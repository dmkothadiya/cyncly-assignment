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32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ask the CTO to re-scope the platform programme, not pause or accelerate it. The deck has four parts: platform engineering, data engineering, strategy and leadership, and the executive recommendation. Every figure quoted is reproducible from the supplied data set and gated by three automated quality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asymmetry: repository migration is on plan and irreversible; pipeline conversion and measurement are the weak links. The recommendation is a re-scope with a 90-day evidence gate. The evidence strip points to artefacts in the repository the CTO can inspect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layers, each with a single owner. The migration target is one GitHub organization, but Azure Boards stays where work-item governance lives — that decision is deliberate and avoids reopening traceability design. The four boundaries are the ones we will not negotiate per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flow is the contract: each arrow has an owner, and a missing arrow is a finding rather than something a team works around locally. Five controls are enforced in the pull request, not in a quarterly audit. Runners are hosted by default; the only exceptions are named, dated and funded.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is applied where the work is repetitive and the output is reviewable. Four use cases, each with a guardrail that is enforced by the platform rather than by a policy document. Sequence matters: assistant, then reviewer, then bounded agent tasks. Adoption is measured alongside DORA, and a negative result stops the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four figures the programme can defend today, each carrying its own confidence label. The table on the left is the honest limit: no deployment event exists in the source, so frequency and failure rate are proxies. The screenshot is the working report, not a mock-up. The rebuild converts proxies into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internal developer platform is run as a product with a named owner who can say no to off-catalogue work. Decision rights are explicit so escalation stops. Service tiers convert platform commitments into something product teams can plan against; the exception tier is the only one with an expiry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waves, each with a falsifiable exit criterion. The Day-90 gate is the important governance mechanism: if adoption, control coverage, reproducibility, migration progress or developer friction miss the threshold, we change the approach while it is still cheap. M3 is already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Capacity is the binding constraint: the same team is migrating, building and measuring. The stop-list is the specific proposal to create room, and it is a decision the CTO can take this month. Each risk has an early warning that can be seen before the impact and a named 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recommendation is a re-scope with a cost: teams with unusual needs request a pattern rather than fork a pipeline, and bespoke dashboards are retired. Investment is largely reallocated rather than new headcount — one security and one data engineer are the exceptions, both justified by retired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four decisions needed this month: golden-path-first, one metric definition, enforced controls, and the stop-list that funds the team. Each has an owner, a date and a visible artefact. The Day-90 gate is the point at which the CTO sees evidence before releasing full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session by inviting the three decisions that unlock the next wave: scope of the pilot, the dated exceptions for legacy products, and the evidence required at Day 90. Keep the discussion anchored to the four decisions requested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6928"/>
            <a:ext cx="1524000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" y="96926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9B9D0"/>
                </a:solidFill>
                <a:latin typeface="Segoe UI"/>
              </a:rPr>
              <a:t>Make it amazing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33856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1056" y="1755648"/>
            <a:ext cx="749807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45CFF5"/>
                </a:solidFill>
                <a:latin typeface="Segoe UI Semibold"/>
              </a:rPr>
              <a:t>ENGINEERING PLATFORM TRANSFORMATION  ·  25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21408"/>
            <a:ext cx="77724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platform.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source of truth.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number we can defend.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41648"/>
            <a:ext cx="64465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Consolidating five Azure DevOps organizations onto GitHub Enterprise — keeping Azure Boards as the system of record, replacing disputed metrics with trusted analytics, and applying AI only where it can be governed.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2FD3A6"/>
                </a:solidFill>
                <a:latin typeface="Segoe UI Semibold"/>
              </a:rPr>
              <a:t>Re-scope, don't pause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7CB6FF">
              <a:alpha val="12000"/>
            </a:srgbClr>
          </a:solidFill>
          <a:ln w="9525" cap="rnd">
            <a:solidFill>
              <a:srgbClr val="7CB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6352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7CB6FF"/>
                </a:solidFill>
                <a:latin typeface="Segoe UI Semibold"/>
              </a:rPr>
              <a:t>Golden path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9744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09744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9A5BFF"/>
                </a:solidFill>
                <a:latin typeface="Segoe UI Semibold"/>
              </a:rPr>
              <a:t>Day-90 evidence gate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5669280"/>
            <a:ext cx="10561320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5 →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AZURE DEVOPS ORGANIZATIONS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~1,000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REPOSITORIES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~1,500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PIPELINES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12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TO ONE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49224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9B9D0"/>
                </a:solidFill>
                <a:latin typeface="Segoe UI Semibold"/>
              </a:rPr>
              <a:t>Head of DevOps &amp;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649224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Prepared for the CTO and Technology Leadership Team  ·  Internal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45CFF5"/>
                </a:solidFill>
                <a:latin typeface="Segoe UI Semibold"/>
              </a:rPr>
              <a:t>THE CASE FOR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5CFF5"/>
                </a:solidFill>
                <a:latin typeface="Segoe UI Semibold"/>
              </a:rPr>
              <a:t>Executive summary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migration works; the method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Repository migration is ahead of plan — the irreversible work is landing. Pipeline conversion, control enforcement and measurement are behind, so progress cannot yet be proven.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85216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2FD3A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2FD3A6"/>
                </a:solidFill>
                <a:latin typeface="Segoe UI Semibold"/>
              </a:rPr>
              <a:t>WHAT IS WORKING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Repository migration is ahead of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History and permissions arrive intact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The irreversible work is landing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Credibility earned with delivery teams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24527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7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2B44C"/>
                </a:solidFill>
                <a:latin typeface="Segoe UI Semibold"/>
              </a:rPr>
              <a:t>WHAT IS STUCK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7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Pipelines are converted one repository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~1,500 pipelines, mostly copy-paste YAML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Controls checked quarterly, not enforced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Five organizations, five definitions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863840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F0657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0657F"/>
                </a:solidFill>
                <a:latin typeface="Segoe UI Semibold"/>
              </a:rPr>
              <a:t>WHAT IT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We cannot prove progress to the 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No deployment event in the source system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Metrics disputed; MTTR rests on three incidents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Duplication re-created at full scale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803904"/>
            <a:ext cx="11057839" cy="14813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01F36"/>
              </a:gs>
              <a:gs pos="55000">
                <a:srgbClr val="141A36"/>
              </a:gs>
              <a:gs pos="100000">
                <a:srgbClr val="1B1436"/>
              </a:gs>
            </a:gsLst>
            <a:lin ang="0" scaled="1"/>
          </a:gradFill>
          <a:ln w="9525" cap="rnd">
            <a:solidFill>
              <a:srgbClr val="2C4A78"/>
            </a:solidFill>
          </a:ln>
          <a:effectLst>
            <a:outerShdw blurRad="3810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3803904"/>
            <a:ext cx="64008" cy="1481328"/>
          </a:xfrm>
          <a:prstGeom prst="rect">
            <a:avLst/>
          </a:prstGeom>
          <a:gradFill rotWithShape="1">
            <a:gsLst>
              <a:gs pos="0">
                <a:srgbClr val="4A90F4"/>
              </a:gs>
              <a:gs pos="100000">
                <a:srgbClr val="9A5BF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7" y="3950208"/>
            <a:ext cx="7040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9A5BFF"/>
                </a:solidFill>
                <a:latin typeface="Segoe UI Semibold"/>
              </a:rPr>
              <a:t>THE RECOMMENDATION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151376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D"/>
                </a:solidFill>
                <a:latin typeface="Segoe UI Semibold"/>
              </a:rPr>
              <a:t>Re-scope — don't accelerate, and don't pause.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535424"/>
            <a:ext cx="72694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A9B9D0"/>
                </a:solidFill>
                <a:latin typeface="Segoe UI"/>
              </a:rPr>
              <a:t>Keep migrating. Replace pipeline-by-pipeline conversion with one golden path and a migration factory. Enforce five controls on new work now. Publish one DORA definition. Release full-estate funding only on Day-90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00507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657F"/>
                </a:solidFill>
                <a:latin typeface="Segoe UI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99592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F0657F"/>
                </a:solidFill>
                <a:latin typeface="Segoe UI Semibold"/>
              </a:rPr>
              <a:t>NOT ACCELERATE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399592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Scales the defect, not the 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0740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657F"/>
                </a:solidFill>
                <a:latin typeface="Segoe UI"/>
              </a:rPr>
              <a:t>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398264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F0657F"/>
                </a:solidFill>
                <a:latin typeface="Segoe UI Semibold"/>
              </a:rPr>
              <a:t>NOT PAUSE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0928" y="439826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Stops the only workstream working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80974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FD3A6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80060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2FD3A6"/>
                </a:solidFill>
                <a:latin typeface="Segoe UI Semibold"/>
              </a:rPr>
              <a:t>RE-SCOPE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480060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Moves effort to a reusable platform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431536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0E1A2C">
              <a:alpha val="70000"/>
            </a:srgbClr>
          </a:solidFill>
          <a:ln w="9525" cap="rnd">
            <a:solidFill>
              <a:srgbClr val="22375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" y="557784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7386A0"/>
                </a:solidFill>
                <a:latin typeface="Segoe UI Semibold"/>
              </a:rPr>
              <a:t>EVIDENCE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7386A0"/>
                </a:solidFill>
                <a:latin typeface="Segoe UI Semibold"/>
              </a:rPr>
              <a:t>ALREADY IN HAND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4 /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24912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unit tests 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3 /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quality gates 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25 / 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model files valid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visuals, 2 pages, live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7CB6FF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B6FF"/>
                </a:solidFill>
                <a:latin typeface="Segoe UI Semibold"/>
              </a:rPr>
              <a:t>Target architecture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one org, one path, one metric spine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Five ADO organizations consolidate onto GitHub Enterprise over five waves — distributed coexistence during migration, one consolidated end state. Azure Boards remains the Agile system of record in one ADO organization.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94944" y="1965960"/>
            <a:ext cx="265176" cy="265176"/>
          </a:xfrm>
          <a:prstGeom prst="ellipse">
            <a:avLst/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1965960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11095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Source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121408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One GitHub Enterprise org; five ADO orgs retired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984248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A90F4">
              <a:alpha val="10000"/>
            </a:srgbClr>
          </a:solidFill>
          <a:ln w="9525" cap="rnd">
            <a:solidFill>
              <a:srgbClr val="4A90F4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4496" y="1984248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A90F4"/>
                </a:solidFill>
                <a:latin typeface="Segoe UI Semibold"/>
              </a:rPr>
              <a:t>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459736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94944" y="2615184"/>
            <a:ext cx="265176" cy="265176"/>
          </a:xfrm>
          <a:prstGeom prst="ellipse">
            <a:avLst/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261518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256032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Change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2770632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Golden-path workflow inherited, never copy-pasted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633472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A90F4">
              <a:alpha val="10000"/>
            </a:srgbClr>
          </a:solidFill>
          <a:ln w="9525" cap="rnd">
            <a:solidFill>
              <a:srgbClr val="4A90F4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2633472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A90F4"/>
                </a:solidFill>
                <a:latin typeface="Segoe UI Semibold"/>
              </a:rPr>
              <a:t>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108960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94944" y="3264408"/>
            <a:ext cx="265176" cy="265176"/>
          </a:xfrm>
          <a:prstGeom prst="ellipse">
            <a:avLst/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944" y="3264408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32095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3419856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Hosted runners by default; dated exceptions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3282696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5CFF5">
              <a:alpha val="10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3282696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5CFF5"/>
                </a:solidFill>
                <a:latin typeface="Segoe UI Semibold"/>
              </a:rPr>
              <a:t>Platform · Security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58183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94944" y="3913631"/>
            <a:ext cx="265176" cy="265176"/>
          </a:xfrm>
          <a:prstGeom prst="ellipse">
            <a:avLst/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913631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85876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Telemetry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4069079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Every deployment emits an event; incidents linked at source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496" y="3931920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5CFF5">
              <a:alpha val="10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54496" y="3931920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5CFF5"/>
                </a:solidFill>
                <a:latin typeface="Segoe UI Semibold"/>
              </a:rPr>
              <a:t>Platform · SRE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07407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94944" y="4562855"/>
            <a:ext cx="265176" cy="265176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" y="456285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4507992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Measurement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" y="4718303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Bronze → Silver → Gold → semantic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496" y="4581144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9A5BFF">
              <a:alpha val="10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54496" y="4581144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9A5BFF"/>
                </a:solidFill>
                <a:latin typeface="Segoe UI Semibold"/>
              </a:rPr>
              <a:t>Data engineering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056631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94944" y="5212079"/>
            <a:ext cx="265176" cy="265176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5212079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" y="515721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Consumption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5367527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One baseline report, one definition, one owner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54496" y="5230368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9A5BFF">
              <a:alpha val="10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54496" y="5230368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9A5BFF"/>
                </a:solidFill>
                <a:latin typeface="Segoe UI Semibold"/>
              </a:rPr>
              <a:t>Data · DevOps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08392" y="1810512"/>
            <a:ext cx="3913632" cy="1901952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891272" y="193852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45CFF5"/>
                </a:solidFill>
                <a:latin typeface="Segoe UI Semibold"/>
              </a:rPr>
              <a:t>END STATE AT MONTH 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1272" y="217627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120">
                <a:solidFill>
                  <a:srgbClr val="7386A0"/>
                </a:solidFill>
                <a:latin typeface="Segoe UI Semibold"/>
              </a:rPr>
              <a:t>TODAY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91272" y="2340864"/>
            <a:ext cx="1298448" cy="676656"/>
          </a:xfrm>
          <a:prstGeom prst="roundRect">
            <a:avLst>
              <a:gd name="adj" fmla="val 8000"/>
            </a:avLst>
          </a:prstGeom>
          <a:solidFill>
            <a:srgbClr val="F0657F">
              <a:alpha val="9000"/>
            </a:srgbClr>
          </a:solidFill>
          <a:ln w="9525" cap="rnd">
            <a:solidFill>
              <a:srgbClr val="F0657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891272" y="2340864"/>
            <a:ext cx="1298448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5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ADO organizations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256032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2176272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120">
                <a:solidFill>
                  <a:srgbClr val="7386A0"/>
                </a:solidFill>
                <a:latin typeface="Segoe UI Semibold"/>
              </a:rPr>
              <a:t>TARGET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55480" y="2340864"/>
            <a:ext cx="1865376" cy="676656"/>
          </a:xfrm>
          <a:prstGeom prst="roundRect">
            <a:avLst>
              <a:gd name="adj" fmla="val 8000"/>
            </a:avLst>
          </a:prstGeom>
          <a:solidFill>
            <a:srgbClr val="2FD3A6">
              <a:alpha val="9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555480" y="2340864"/>
            <a:ext cx="186537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GitHub Enterprise org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91272" y="3127248"/>
            <a:ext cx="3529584" cy="457200"/>
          </a:xfrm>
          <a:prstGeom prst="roundRect">
            <a:avLst>
              <a:gd name="adj" fmla="val 10000"/>
            </a:avLst>
          </a:prstGeom>
          <a:solidFill>
            <a:srgbClr val="5B5BF0">
              <a:alpha val="10000"/>
            </a:srgbClr>
          </a:solidFill>
          <a:ln w="9525" cap="rnd">
            <a:solidFill>
              <a:srgbClr val="5B5BF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28431" y="312724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Azure Boards — retained in one ADO org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as the Agile system of record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708392" y="3822191"/>
            <a:ext cx="3913632" cy="1947672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91272" y="395020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9A5BFF"/>
                </a:solidFill>
                <a:latin typeface="Segoe UI Semibold"/>
              </a:rPr>
              <a:t>NON-NEGOTIABLE BOUNDARIES</a:t>
            </a:r>
          </a:p>
        </p:txBody>
      </p:sp>
      <p:sp>
        <p:nvSpPr>
          <p:cNvPr id="63" name="Oval 62"/>
          <p:cNvSpPr/>
          <p:nvPr/>
        </p:nvSpPr>
        <p:spPr>
          <a:xfrm>
            <a:off x="7891272" y="4251960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028431" y="4187952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OIDC federation only — no long-lived cloud credentials</a:t>
            </a:r>
          </a:p>
        </p:txBody>
      </p:sp>
      <p:sp>
        <p:nvSpPr>
          <p:cNvPr id="65" name="Oval 64"/>
          <p:cNvSpPr/>
          <p:nvPr/>
        </p:nvSpPr>
        <p:spPr>
          <a:xfrm>
            <a:off x="7891272" y="4562856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028431" y="4498848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Policy enforced as code in the same pull request</a:t>
            </a:r>
          </a:p>
        </p:txBody>
      </p:sp>
      <p:sp>
        <p:nvSpPr>
          <p:cNvPr id="67" name="Oval 66"/>
          <p:cNvSpPr/>
          <p:nvPr/>
        </p:nvSpPr>
        <p:spPr>
          <a:xfrm>
            <a:off x="7891272" y="4873752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028431" y="4809744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Every deployment emits service, environment and commit</a:t>
            </a:r>
          </a:p>
        </p:txBody>
      </p:sp>
      <p:sp>
        <p:nvSpPr>
          <p:cNvPr id="69" name="Oval 68"/>
          <p:cNvSpPr/>
          <p:nvPr/>
        </p:nvSpPr>
        <p:spPr>
          <a:xfrm>
            <a:off x="7891272" y="5184648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028431" y="5120640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The measurement layer reads from one Gold source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91272" y="5468112"/>
            <a:ext cx="3456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7386A0"/>
                </a:solidFill>
                <a:latin typeface="Segoe UI"/>
              </a:rPr>
              <a:t>A service can request a dated exception — never buy its way around it.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7CB6FF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B6FF"/>
                </a:solidFill>
                <a:latin typeface="Segoe UI Semibold"/>
              </a:rPr>
              <a:t>Golden path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1,500 pipelines converted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Per-repository porting reproduces the duplication that made the estate expensive. A service inherits the golden path; it cannot fork its way around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3504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branch + reviewable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Pull 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policy and owner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1376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88536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Automated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tests, SAST, deps, 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144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25312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4A90F4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62472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472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Golden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2472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one inherited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36408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Deployment 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8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service, env, commit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6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73184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10344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0344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Metric grain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project × 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999232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3F7FD"/>
                </a:solidFill>
                <a:latin typeface="Segoe UI Semibold"/>
              </a:rPr>
              <a:t>Five controls — non-waivable on new work</a:t>
            </a:r>
          </a:p>
        </p:txBody>
      </p:sp>
      <p:sp>
        <p:nvSpPr>
          <p:cNvPr id="38" name="Oval 37"/>
          <p:cNvSpPr/>
          <p:nvPr/>
        </p:nvSpPr>
        <p:spPr>
          <a:xfrm>
            <a:off x="566928" y="3328416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332841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3310128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Reviewed ruleset on the default branch; required checks green</a:t>
            </a:r>
          </a:p>
        </p:txBody>
      </p:sp>
      <p:sp>
        <p:nvSpPr>
          <p:cNvPr id="41" name="Oval 40"/>
          <p:cNvSpPr/>
          <p:nvPr/>
        </p:nvSpPr>
        <p:spPr>
          <a:xfrm>
            <a:off x="566928" y="3730752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373075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3712464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Third-party actions pinned to full commit SHAs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133088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6928" y="4133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114800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Workload identity federation; no long-lived secrets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535424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453542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4517136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Attributable human approval on production deploys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4937760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493776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919472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Secret scanning and push protection on; secrets revoked, not deleted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394960"/>
            <a:ext cx="5468112" cy="713232"/>
          </a:xfrm>
          <a:prstGeom prst="roundRect">
            <a:avLst>
              <a:gd name="adj" fmla="val 6000"/>
            </a:avLst>
          </a:prstGeom>
          <a:solidFill>
            <a:srgbClr val="F2B44C">
              <a:alpha val="7000"/>
            </a:srgbClr>
          </a:solidFill>
          <a:ln w="9525" cap="rnd">
            <a:solidFill>
              <a:srgbClr val="F2B44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" y="5468112"/>
            <a:ext cx="5138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Existing estate: dated backlog, 3-day exception turnaround, maximum 90 days — renewable once with justification, then closed.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9088" y="2999232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3F7FD"/>
                </a:solidFill>
                <a:latin typeface="Segoe UI Semibold"/>
              </a:rPr>
              <a:t>Runner strategy: standard by default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9088" y="3310128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419088" y="3310128"/>
            <a:ext cx="45720" cy="512064"/>
          </a:xfrm>
          <a:prstGeom prst="rect">
            <a:avLst/>
          </a:prstGeom>
          <a:solidFill>
            <a:srgbClr val="2FD3A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65392" y="338328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Standard hosted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65392" y="35844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All new and migrated pipelines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483864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2FD3A6"/>
                </a:solidFill>
                <a:latin typeface="Segoe UI Semibold"/>
              </a:rPr>
              <a:t>Permanent baseline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19088" y="3913632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419088" y="3913632"/>
            <a:ext cx="45720" cy="512064"/>
          </a:xfrm>
          <a:prstGeom prst="rect">
            <a:avLst/>
          </a:prstGeom>
          <a:solidFill>
            <a:srgbClr val="7CB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65392" y="398678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Larger hosted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4187952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Heavy builds; cost attributed to product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408736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7CB6FF"/>
                </a:solidFill>
                <a:latin typeface="Segoe UI Semibold"/>
              </a:rPr>
              <a:t>Reviewed quarterly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9088" y="4517136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19088" y="4517136"/>
            <a:ext cx="45720" cy="512064"/>
          </a:xfrm>
          <a:prstGeom prst="rect">
            <a:avLst/>
          </a:prstGeom>
          <a:solidFill>
            <a:srgbClr val="F2B44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65392" y="45902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Self-hosted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65392" y="4791456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Only legacy products that cannot move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98280" y="4690872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2B44C"/>
                </a:solidFill>
                <a:latin typeface="Segoe UI Semibold"/>
              </a:rPr>
              <a:t>≤ 12 months, dated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19088" y="5138928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EXCEPTION PATH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419088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19088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Request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same day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71231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735823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35823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Risk assess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35823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2 days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87967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52559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052559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CISO approval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59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1 day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04703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69295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0369295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69295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monthly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45CFF5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5CFF5"/>
                </a:solidFill>
                <a:latin typeface="Segoe UI Semibold"/>
              </a:rPr>
              <a:t>AI-enabled engineering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four uses, four enforced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Copilot in GitHub Enterprise, applied to work that is repetitive, reviewable and measurable. No customer data in prompts; no autonomous production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197510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7C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084831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Pipeline migration 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40864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Translate ADO YAML into golden-path workflows. The 1,500-pipeline estate is the use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71215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7CB6FF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Human review and policy check; no direct push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3048" y="1810512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977639" y="197510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2084831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Code review and test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40864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PR summaries, missing-test detection, dependency upgrades, reviewable suggestions.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871215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45CFF5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Suggestions only; human approval stays required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83280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3547872"/>
            <a:ext cx="310896" cy="45720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6576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Incident triage and postmortems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Correlate telemetry, draft the timeline, propose follow-ups with owners.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4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9A5BFF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Read-only access; no personal data to a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3048" y="3383280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977639" y="3547872"/>
            <a:ext cx="310896" cy="45720"/>
          </a:xfrm>
          <a:prstGeom prst="roundRect">
            <a:avLst>
              <a:gd name="adj" fmla="val 50000"/>
            </a:avLst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77639" y="36576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Analytics co-pilot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Natural-language questions over the semantic model, never over raw tables.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4443984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2FD3A6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Semantic layer only; every answer reproducible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1810512"/>
            <a:ext cx="4370832" cy="3035808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956816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45CFF5"/>
                </a:solidFill>
                <a:latin typeface="Segoe UI Semibold"/>
              </a:rPr>
              <a:t>HOW WE PROVE IT PAYS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223113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Adoption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223113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Share of active repositories using AI-assisted pull requests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43216" y="261518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43216" y="273405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Time to first 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273405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Under one hour for a new service on the golden 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43216" y="311810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43216" y="323697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DORA delta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323697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Lead time and change failure rate, always reported as a pair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43216" y="362102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43216" y="373989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Review 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373989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Comments per pull request — quality, not volume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43216" y="412394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43216" y="4334256"/>
            <a:ext cx="39502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1">
                <a:solidFill>
                  <a:srgbClr val="7386A0"/>
                </a:solidFill>
                <a:latin typeface="Segoe UI"/>
              </a:rPr>
              <a:t>Measured monthly. A negative DORA result stops the rollout — capability is not a strategy.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029200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0E1A2C">
              <a:alpha val="70000"/>
            </a:srgbClr>
          </a:solidFill>
          <a:ln w="9525" cap="rnd">
            <a:solidFill>
              <a:srgbClr val="22375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15721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SEQUENCE, NOT SPRAY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3F7FD"/>
                </a:solidFill>
                <a:latin typeface="Segoe UI Semibold"/>
              </a:rPr>
              <a:t>1  Assistant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autocomplete, chat, docs — lowest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6512" y="539496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B6FF"/>
                </a:solidFill>
                <a:latin typeface="Segoe UI"/>
              </a:rPr>
              <a:t>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9826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3F7FD"/>
                </a:solidFill>
                <a:latin typeface="Segoe UI Semibold"/>
              </a:rPr>
              <a:t>2  Reviewer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9826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PR summaries, tests, dependency fixes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8392" y="539496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B6FF"/>
                </a:solidFill>
                <a:latin typeface="Segoe UI"/>
              </a:rPr>
              <a:t>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014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FF5"/>
                </a:solidFill>
                <a:latin typeface="Segoe UI Semibold"/>
              </a:rPr>
              <a:t>3 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1014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scoped migration tasks with a named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9A5BFF"/>
                </a:solidFill>
                <a:latin typeface="Segoe UI Semibold"/>
              </a:rPr>
              <a:t>PART B · 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9A5BFF"/>
                </a:solidFill>
                <a:latin typeface="Segoe UI Semibold"/>
              </a:rPr>
              <a:t>Evidence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four DORA metrics and their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Recomputed from source, reconciled row by row, gated by three automated checks. Where a number is a proxy, it is labelled a proxy.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85216" y="1819656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97510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38.33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1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Deployments per project-month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43200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2B44C">
              <a:alpha val="14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74320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2B44C"/>
                </a:solidFill>
                <a:latin typeface="Segoe UI Semibold"/>
              </a:rPr>
              <a:t>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345 builds · 9 grain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54096" y="1810512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072384" y="1819656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2FD3A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36976" y="197510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20.5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6976" y="2450591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Lead time for changes (median)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6976" y="2743200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4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36976" y="274320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15768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n = 149 · 98.0% linked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91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85216" y="3300984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345643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0.87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3192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Change failure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224528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2B44C">
              <a:alpha val="14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224528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2B44C"/>
                </a:solidFill>
                <a:latin typeface="Segoe UI Semibold"/>
              </a:rPr>
              <a:t>DIRECTIONAL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4197096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3 of 345 deployments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54096" y="3291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072384" y="3300984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0657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36976" y="345643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2.0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6976" y="393192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Mean time to restore (median)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6976" y="4224528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36976" y="4224528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0657F"/>
                </a:solidFill>
                <a:latin typeface="Segoe UI Semibold"/>
              </a:rPr>
              <a:t>INDICATIVE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97096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n = 3 · all at 2.03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864608"/>
            <a:ext cx="4846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3F7FD"/>
                </a:solidFill>
                <a:latin typeface="Segoe UI Semibold"/>
              </a:rPr>
              <a:t>What this source cannot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120640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deployment event: no environment, release marker or deployment-to-incident link.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9824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commit-to-build link for one project, so its lead time cannot exist.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779008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project-month where all four metrics are observed — 4 of 9 rows are partial, 5 minimal.</a:t>
            </a:r>
          </a:p>
        </p:txBody>
      </p:sp>
      <p:pic>
        <p:nvPicPr>
          <p:cNvPr id="40" name="Picture 39" descr="dashboard-fram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10512"/>
            <a:ext cx="5861304" cy="2766734"/>
          </a:xfrm>
          <a:prstGeom prst="rect">
            <a:avLst/>
          </a:prstGeom>
          <a:effectLst>
            <a:outerShdw blurRad="330200" dist="127000" dir="5400000" algn="ctr" rotWithShape="0">
              <a:srgbClr val="000000">
                <a:alpha val="55000"/>
              </a:srgbClr>
            </a:outerShdw>
          </a:effectLst>
        </p:spPr>
      </p:pic>
      <p:sp>
        <p:nvSpPr>
          <p:cNvPr id="41" name="TextBox 40"/>
          <p:cNvSpPr txBox="1"/>
          <p:nvPr/>
        </p:nvSpPr>
        <p:spPr>
          <a:xfrm>
            <a:off x="5760720" y="4650398"/>
            <a:ext cx="5861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386A0"/>
                </a:solidFill>
                <a:latin typeface="Segoe UI"/>
              </a:rPr>
              <a:t>Live Power BI report — 2 pages, 19 visuals, refresh-verified in Desktop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4846320"/>
            <a:ext cx="5861304" cy="1298448"/>
          </a:xfrm>
          <a:prstGeom prst="roundRect">
            <a:avLst>
              <a:gd name="adj" fmla="val 6000"/>
            </a:avLst>
          </a:prstGeom>
          <a:solidFill>
            <a:srgbClr val="0E1A2C">
              <a:alpha val="65000"/>
            </a:srgbClr>
          </a:solidFill>
          <a:ln w="9525" cap="rnd">
            <a:solidFill>
              <a:srgbClr val="22375A">
                <a:alpha val="6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0" y="495604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45CFF5"/>
                </a:solidFill>
                <a:latin typeface="Segoe UI Semibold"/>
              </a:rPr>
              <a:t>WHAT BECOMES ANSWERABLE AFTER THE MEASUREMENT REBUILD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How often do we deploy?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A discrete event, with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27264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What is our failure rate?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27264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Linked to the failing deployment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8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Is a team improving?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Paired metrics, published sample sizes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79729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1">
                <a:solidFill>
                  <a:srgbClr val="7386A0"/>
                </a:solidFill>
                <a:latin typeface="Segoe UI"/>
              </a:rPr>
              <a:t>All four depend on one addition: a deployment event emitted by the golden path.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Operating model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named owners, written decision rights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Central platform engineering sets the path; application teams own their services; security enforces in the pull request; data owns the number. Capability gaps close by month 3.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7386A0"/>
                </a:solidFill>
                <a:latin typeface="Segoe UI Semibold"/>
              </a:rPr>
              <a:t>WHO OWNS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4825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048256"/>
            <a:ext cx="45720" cy="566928"/>
          </a:xfrm>
          <a:prstGeom prst="rect">
            <a:avLst/>
          </a:prstGeom>
          <a:solidFill>
            <a:srgbClr val="4A90F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04825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Platform product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4825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Catalogue, golden path, runner strategy — and the authority to say 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8833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6928" y="2688336"/>
            <a:ext cx="45720" cy="566928"/>
          </a:xfrm>
          <a:prstGeom prst="rect">
            <a:avLst/>
          </a:prstGeom>
          <a:solidFill>
            <a:srgbClr val="F0657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268833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Security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8833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Policy-as-code and the exception register — one dedicated engineer, ring-fenced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2841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5720" cy="566928"/>
          </a:xfrm>
          <a:prstGeom prst="rect">
            <a:avLst/>
          </a:prstGeom>
          <a:solidFill>
            <a:srgbClr val="9A5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32841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Data and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32841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Metric definitions, reconciliation gate and the single Gold source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96849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968496"/>
            <a:ext cx="45720" cy="566928"/>
          </a:xfrm>
          <a:prstGeom prst="rect">
            <a:avLst/>
          </a:prstGeom>
          <a:solidFill>
            <a:srgbClr val="2FD3A6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96849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Application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96849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Service quality, tests and on-call — on the golden path, not around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2" y="1810512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7386A0"/>
                </a:solidFill>
                <a:latin typeface="Segoe UI Semibold"/>
              </a:rPr>
              <a:t>DECISION RIGHTS — SO THE PROGRAMME STOPS ESCALATING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2" y="2048256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56832" y="213969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Approve a new golden-path pattern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139696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Head of DevOps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56832" y="2450592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56832" y="2542032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Grant a security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42032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CISO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6832" y="2852928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56832" y="2944368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Change a published metric definition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944368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Head of DevOps +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6832" y="3255264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56832" y="3346704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Re-platform or retire a legacy product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346704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6832" y="3657600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56832" y="3767328"/>
            <a:ext cx="49377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1">
                <a:solidFill>
                  <a:srgbClr val="7386A0"/>
                </a:solidFill>
                <a:latin typeface="Segoe UI"/>
              </a:rPr>
              <a:t>One named role decides. A committee is not an answer when the CTO asks who approved a control.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791456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7386A0"/>
                </a:solidFill>
                <a:latin typeface="Segoe UI Semibold"/>
              </a:rPr>
              <a:t>SERVICE TIERS — COMMITMENTS WE CAN KEEP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1323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T0 · Revenue critical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change freezes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2FD3A6"/>
                </a:solidFill>
                <a:latin typeface="Segoe UI"/>
              </a:rPr>
              <a:t>24×7 on-call · 15-min platform response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584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50215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50215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T1 · Business critical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0215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99.5% availability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0215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5CFF5"/>
                </a:solidFill>
                <a:latin typeface="Segoe UI"/>
              </a:rPr>
              <a:t>Extended hours · 1-hour response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29107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7C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9107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T2 · Standard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9107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business hours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107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CB6FF"/>
                </a:solidFill>
                <a:latin typeface="Segoe UI"/>
              </a:rPr>
              <a:t>Planned work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33687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9079991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F2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079991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Exception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9991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Documented workaround, owner named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1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F2B44C"/>
                </a:solidFill>
                <a:latin typeface="Segoe UI"/>
              </a:rPr>
              <a:t>Monthly review, dated expiry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Roadmap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five waves, twelve months, one hard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Waves are sequenced by dependency and by evidence. Every wave has an exit criterion that can fail.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DELIVERY WAVES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395728"/>
            <a:ext cx="8851392" cy="320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A90F4">
                  <a:alpha val="90000"/>
                </a:srgbClr>
              </a:gs>
              <a:gs pos="50000">
                <a:srgbClr val="45CFF5">
                  <a:alpha val="90000"/>
                </a:srgbClr>
              </a:gs>
              <a:gs pos="100000">
                <a:srgbClr val="9A5BFF">
                  <a:alpha val="9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81911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7C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7CB6FF"/>
                </a:solidFill>
                <a:latin typeface="Segoe UI Semibold"/>
              </a:rPr>
              <a:t>WAVE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Days 1–30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Baseline the estate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Duplicate-pipeline analysis, runner inventory, control gaps, metric reconciliation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7CB6FF"/>
                </a:solidFill>
                <a:latin typeface="Segoe UI Semibold"/>
              </a:rPr>
              <a:t>EXIT CRITERION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Duplicate share quantified; every legacy runner owned and dated</a:t>
            </a:r>
          </a:p>
        </p:txBody>
      </p:sp>
      <p:sp>
        <p:nvSpPr>
          <p:cNvPr id="19" name="Oval 18"/>
          <p:cNvSpPr/>
          <p:nvPr/>
        </p:nvSpPr>
        <p:spPr>
          <a:xfrm>
            <a:off x="3794760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45C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34640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45CFF5"/>
                </a:solidFill>
                <a:latin typeface="Segoe UI Semibold"/>
              </a:rPr>
              <a:t>WAVE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2–3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Golden path 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0944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Two highest-volume service patterns; controls live on every new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80944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80944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45CFF5"/>
                </a:solidFill>
                <a:latin typeface="Segoe UI Semibold"/>
              </a:rPr>
              <a:t>EXIT CRITERION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0944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10 services on the path; 100% of new pipelines pass every control</a:t>
            </a:r>
          </a:p>
        </p:txBody>
      </p:sp>
      <p:sp>
        <p:nvSpPr>
          <p:cNvPr id="28" name="Oval 27"/>
          <p:cNvSpPr/>
          <p:nvPr/>
        </p:nvSpPr>
        <p:spPr>
          <a:xfrm>
            <a:off x="6007607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2FD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488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2FD3A6"/>
                </a:solidFill>
                <a:latin typeface="Segoe UI Semibold"/>
              </a:rPr>
              <a:t>WAVE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4–6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488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93792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First consolidation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Migrate high-volume, low-exception repos; retire the first ADO organization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3792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93792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2FD3A6"/>
                </a:solidFill>
                <a:latin typeface="Segoe UI Semibold"/>
              </a:rPr>
              <a:t>EXIT CRITERION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First org decommissioned; no DORA regression</a:t>
            </a:r>
          </a:p>
        </p:txBody>
      </p:sp>
      <p:sp>
        <p:nvSpPr>
          <p:cNvPr id="37" name="Oval 36"/>
          <p:cNvSpPr/>
          <p:nvPr/>
        </p:nvSpPr>
        <p:spPr>
          <a:xfrm>
            <a:off x="8220456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F2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60336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F2B44C"/>
                </a:solidFill>
                <a:latin typeface="Segoe UI Semibold"/>
              </a:rPr>
              <a:t>WAVE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0336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7–9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06640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Scale and settle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Remaining standard repos; legacy products re-platformed or given a dated decision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406640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F2B44C"/>
                </a:solidFill>
                <a:latin typeface="Segoe UI Semibold"/>
              </a:rPr>
              <a:t>EXIT CRITERION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80% of repositories migrated; no open-ended exceptions</a:t>
            </a:r>
          </a:p>
        </p:txBody>
      </p:sp>
      <p:sp>
        <p:nvSpPr>
          <p:cNvPr id="46" name="Oval 45"/>
          <p:cNvSpPr/>
          <p:nvPr/>
        </p:nvSpPr>
        <p:spPr>
          <a:xfrm>
            <a:off x="10433304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9A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73184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9A5BFF"/>
                </a:solidFill>
                <a:latin typeface="Segoe UI Semibold"/>
              </a:rPr>
              <a:t>WAVE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10–12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73184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19488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One organization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19488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Final consolidation, last ADO decommission, handover to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19488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619488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9A5BFF"/>
                </a:solidFill>
                <a:latin typeface="Segoe UI Semibold"/>
              </a:rPr>
              <a:t>EXIT CRITERION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9488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One org in use; cost reduction realised; run model signed off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553712"/>
            <a:ext cx="11057839" cy="1298448"/>
          </a:xfrm>
          <a:prstGeom prst="roundRect">
            <a:avLst>
              <a:gd name="adj" fmla="val 6000"/>
            </a:avLst>
          </a:prstGeom>
          <a:solidFill>
            <a:srgbClr val="12203A">
              <a:alpha val="95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>
            <a:outerShdw blurRad="3556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86384" y="4681728"/>
            <a:ext cx="4206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30">
                <a:solidFill>
                  <a:srgbClr val="F2B44C"/>
                </a:solidFill>
                <a:latin typeface="Segoe UI Semibold"/>
              </a:rPr>
              <a:t>DAY-90 GATE — CONTINUE ONLY IF ALL FIVE HOLD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" y="4882896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 year-long plan with no intermediate gate is a budget request, not a plan.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127248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236976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≥ 10 services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36976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on the golden path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28032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937760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of new pipelines controlled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28816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38544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Every figure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38544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recomputes green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0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339327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≥ 1 org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decommission-ready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30384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040111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No regression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40111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in median lead time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980176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Staffing: 4 platform · 1 security · 1 data · 2 migration, plus product owners per wave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3760" y="5980176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FD3A6"/>
                </a:solidFill>
                <a:latin typeface="Segoe UI"/>
              </a:rPr>
              <a:t>M3 achieved today — the baseline is already published from one Gold source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F2B44C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B44C"/>
                </a:solidFill>
                <a:latin typeface="Segoe UI Semibold"/>
              </a:rPr>
              <a:t>Risks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capacity is the constraint; here is the stop-list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One small team is being asked to migrate an estate, build a platform and fix the measurement. Something has to come off that team's 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792224"/>
            <a:ext cx="2852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92224"/>
            <a:ext cx="23957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EARLY WARNING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1888" y="179222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HELD BY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2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17223A">
              <a:alpha val="95000"/>
            </a:srgbClr>
          </a:solidFill>
          <a:ln w="9525" cap="rnd">
            <a:solidFill>
              <a:srgbClr val="F2B44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2"/>
            <a:ext cx="50292" cy="548640"/>
          </a:xfrm>
          <a:prstGeom prst="rect">
            <a:avLst/>
          </a:prstGeom>
          <a:solidFill>
            <a:srgbClr val="F2B44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167128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B44C"/>
                </a:solidFill>
                <a:latin typeface="Segoe UI Semibold"/>
              </a:rPr>
              <a:t>R5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084832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3F7FD"/>
                </a:solidFill>
                <a:latin typeface="Segoe UI"/>
              </a:rPr>
              <a:t>One team migrates, builds and measures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084832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Golden-path backlog age &gt;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2167128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15184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788920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06624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Golden path not adopted; teams fork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706624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Fork count rising week on 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78892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Platform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36976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410712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328416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Enforcement pushes delivery off-platform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328416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Exception volume rising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3410712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CISO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858768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032504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50208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Legacy products block decommissioning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950208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Exceptions past their expiry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4032504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80560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4654296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572000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Metrics stay disputed; progress unprovable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572000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Dashboard divergence reports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4654296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Head of 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212080"/>
            <a:ext cx="6766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What would make us change the recommendation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9824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Golden path rejected by more than a third of pilot teams → pause and re-scope the 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687568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Security exception volume grows week on week → fix the control, not the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925312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Migration stalls for two waves → consolidate to three organizations first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26096" y="1810512"/>
            <a:ext cx="3995928" cy="2688336"/>
          </a:xfrm>
          <a:prstGeom prst="roundRect">
            <a:avLst>
              <a:gd name="adj" fmla="val 6000"/>
            </a:avLst>
          </a:prstGeom>
          <a:solidFill>
            <a:srgbClr val="1B1730">
              <a:alpha val="95000"/>
            </a:srgbClr>
          </a:solidFill>
          <a:ln w="9525" cap="rnd">
            <a:solidFill>
              <a:srgbClr val="9A5BFF">
                <a:alpha val="40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08975" y="193852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9A5BFF"/>
                </a:solidFill>
                <a:latin typeface="Segoe UI Semibold"/>
              </a:rPr>
              <a:t>WHAT WE STOP, TO MAKE ROOM</a:t>
            </a:r>
          </a:p>
        </p:txBody>
      </p:sp>
      <p:sp>
        <p:nvSpPr>
          <p:cNvPr id="43" name="Oval 42"/>
          <p:cNvSpPr/>
          <p:nvPr/>
        </p:nvSpPr>
        <p:spPr>
          <a:xfrm>
            <a:off x="7808975" y="2258568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08975" y="225856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3" y="2231136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Per-repository pipeline porting outside Wave 1 pilots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3" y="2596896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The single largest source of avoidable work</a:t>
            </a:r>
          </a:p>
        </p:txBody>
      </p:sp>
      <p:sp>
        <p:nvSpPr>
          <p:cNvPr id="47" name="Oval 46"/>
          <p:cNvSpPr/>
          <p:nvPr/>
        </p:nvSpPr>
        <p:spPr>
          <a:xfrm>
            <a:off x="7808975" y="2971799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08975" y="2971799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01583" y="2944368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Team DORA dashboards that cannot reconcile to Gold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3" y="3310127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Every unreconciled view restarts the dispute</a:t>
            </a:r>
          </a:p>
        </p:txBody>
      </p:sp>
      <p:sp>
        <p:nvSpPr>
          <p:cNvPr id="51" name="Oval 50"/>
          <p:cNvSpPr/>
          <p:nvPr/>
        </p:nvSpPr>
        <p:spPr>
          <a:xfrm>
            <a:off x="7808975" y="3685032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808975" y="368503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01583" y="3657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Quarterly audits as the primary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01583" y="4023360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Enforcement moves into the pull request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26096" y="4626864"/>
            <a:ext cx="3995928" cy="1481328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808975" y="4736592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30">
                <a:solidFill>
                  <a:srgbClr val="F2B44C"/>
                </a:solidFill>
                <a:latin typeface="Segoe UI Semibold"/>
              </a:rPr>
              <a:t>RISK APPETITE, STATED PLAINLY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08975" y="495604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Security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956048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Very low — no new pipeline without enforced controls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08975" y="5212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Delivery pace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5212080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Moderate — waves slip before controls slip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08975" y="5468112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Exceptions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468112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Low and time-bound — no expiry is a failed decision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08975" y="5724144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Metric precision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724144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High — publish blank rather than wrong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D · EXECUTIVE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The choice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re-scope, do not accelerate or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Acceleration scales the defect; a pause stops the only workstream that is working. Re-scoping moves effort from per-repository conversion to a reusable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611880" cy="1664208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ACCELERATE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45536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45536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F0657F"/>
                </a:solidFill>
                <a:latin typeface="Segoe UI Semibold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Per-pipeline conversion continues. Duplication is carried forward at 1,500× cost and enforcement is deferred again.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F0657F"/>
                </a:solidFill>
                <a:latin typeface="Segoe UI"/>
              </a:rPr>
              <a:t>Duplication at 1,500× cost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1810512"/>
            <a:ext cx="3611880" cy="1664208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PAUSE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67144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67144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F0657F"/>
                </a:solidFill>
                <a:latin typeface="Segoe UI Semibold"/>
              </a:rPr>
              <a:t>REJECT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Proven migration stops. Teams keep shipping on inconsistent pipelines; restart cost and credibility loss are both high.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2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F0657F"/>
                </a:solidFill>
                <a:latin typeface="Segoe UI"/>
              </a:rPr>
              <a:t>Restart and lost credibility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773936"/>
            <a:ext cx="3611880" cy="17373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0243A"/>
              </a:gs>
              <a:gs pos="100000">
                <a:srgbClr val="122B33"/>
              </a:gs>
            </a:gsLst>
            <a:lin ang="5400000" scaled="1"/>
          </a:gradFill>
          <a:ln w="15875" cap="rnd">
            <a:solidFill>
              <a:srgbClr val="2FD3A6"/>
            </a:solidFill>
          </a:ln>
          <a:effectLst>
            <a:outerShdw blurRad="381000" dist="1524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RE-SCOPE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8752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4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88752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2FD3A6"/>
                </a:solidFill>
                <a:latin typeface="Segoe UI Semibold"/>
              </a:rPr>
              <a:t>RECOMMENDED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Migration continues; conversion becomes a golden path plus a factory; controls apply to new work now; funding is gated at Day 90.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2FD3A6"/>
                </a:solidFill>
                <a:latin typeface="Segoe UI"/>
              </a:rPr>
              <a:t>Teams give up bespoke pipelines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8096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2FD3A6"/>
                </a:solidFill>
                <a:latin typeface="Segoe UI Semibold"/>
              </a:rPr>
              <a:t>INVEST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Golden path and migration factory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Policy-as-code and the exception register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Measurement spine and reconciliation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5193792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19379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Legacy runner isolation, time-boxed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88536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9704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F0657F"/>
                </a:solidFill>
                <a:latin typeface="Segoe UI Semibold"/>
              </a:rPr>
              <a:t>STOP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Per-repository porting outside pilots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Team dashboards that cannot reconcile to Gold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9704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0872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Quarterly audits as the primary control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2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7386A0"/>
                </a:solidFill>
                <a:latin typeface="Segoe UI Semibold"/>
              </a:rPr>
              <a:t>DEFER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Azure Boards retirement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11312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Full ADO decommission before wave exit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11312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Autonomous production change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1312" y="5193792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519379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Backfilling historical deployment events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5779008"/>
            <a:ext cx="11057839" cy="512064"/>
          </a:xfrm>
          <a:prstGeom prst="roundRect">
            <a:avLst>
              <a:gd name="adj" fmla="val 6000"/>
            </a:avLst>
          </a:prstGeom>
          <a:solidFill>
            <a:srgbClr val="0F1B2E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68096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7386A0"/>
                </a:solidFill>
                <a:latin typeface="Segoe UI"/>
              </a:rPr>
              <a:t>Investment shape  </a:t>
            </a:r>
            <a:r>
              <a:rPr sz="720" b="0" i="0">
                <a:solidFill>
                  <a:srgbClr val="A9B9D0"/>
                </a:solidFill>
                <a:latin typeface="Segoe UI"/>
              </a:rPr>
              <a:t>4 platform FTE reallocated from per-repository conversion  ·  1 security FTE ring-fenced  ·  1 data FTE part-funded by retiring dashboards  ·  legacy isolation charged to the owning product  ·  tooling neutral to down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D · EXECUTIVE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Decisions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six requested, four needed this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Approve D1, D2, D3 and D6 now so Wave 1 starts on a golden path, with enforceable controls and one agreed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792224"/>
            <a:ext cx="6766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1184" y="1792224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792224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BY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11680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14884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093976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Adopt golden-path-first conversion; freeze porting outside pilots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1184" y="214884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213969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2139696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42032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679192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624328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Mandate one DORA definition across all organizations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79192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 +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26700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82512" y="2670048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072384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3209544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3154680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Enforce five non-waivable controls on all new pipelines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1184" y="3209544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CISO + 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320040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3200400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602736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3739896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386A0"/>
                </a:solidFill>
                <a:latin typeface="Segoe UI Semibold"/>
              </a:rPr>
              <a:t>D4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3685032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Fund the legacy runner exception path, capped at 12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373989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 + Product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82512" y="3730752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7386A0">
              <a:alpha val="12000"/>
            </a:srgbClr>
          </a:solidFill>
          <a:ln w="9525" cap="rnd">
            <a:solidFill>
              <a:srgbClr val="7386A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3730752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386A0"/>
                </a:solidFill>
                <a:latin typeface="Segoe UI Semibold"/>
              </a:rPr>
              <a:t>Month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133088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" y="4270248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386A0"/>
                </a:solidFill>
                <a:latin typeface="Segoe UI Semibold"/>
              </a:rPr>
              <a:t>D5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" y="4215384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Decide re-platform or retire for unmodernisable products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1184" y="427024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82512" y="4261104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7386A0">
              <a:alpha val="12000"/>
            </a:srgbClr>
          </a:solidFill>
          <a:ln w="9525" cap="rnd">
            <a:solidFill>
              <a:srgbClr val="7386A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4261104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386A0"/>
                </a:solidFill>
                <a:latin typeface="Segoe UI Semibold"/>
              </a:rPr>
              <a:t>Month 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663440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3232" y="4800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" y="4745736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Approve the stop-list that funds platform capacity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4" y="480060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82512" y="47914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4791456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26096" y="1810512"/>
            <a:ext cx="3995928" cy="3108960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08975" y="193852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45CFF5"/>
                </a:solidFill>
                <a:latin typeface="Segoe UI Semibold"/>
              </a:rPr>
              <a:t>WHAT YOU WILL SEE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2286000"/>
            <a:ext cx="12801" cy="1847088"/>
          </a:xfrm>
          <a:prstGeom prst="rect">
            <a:avLst/>
          </a:prstGeom>
          <a:solidFill>
            <a:srgbClr val="45CFF5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836408" y="2276856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65008" y="221284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Week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7968" y="2212848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Golden-path policy published; conversion frozen outside pilots</a:t>
            </a:r>
          </a:p>
        </p:txBody>
      </p:sp>
      <p:sp>
        <p:nvSpPr>
          <p:cNvPr id="53" name="Oval 52"/>
          <p:cNvSpPr/>
          <p:nvPr/>
        </p:nvSpPr>
        <p:spPr>
          <a:xfrm>
            <a:off x="7836408" y="2880360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65008" y="2816352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Weeks 2–4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87968" y="28163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Controls in enforce mode; exception register live with owners and dates</a:t>
            </a:r>
          </a:p>
        </p:txBody>
      </p:sp>
      <p:sp>
        <p:nvSpPr>
          <p:cNvPr id="56" name="Oval 55"/>
          <p:cNvSpPr/>
          <p:nvPr/>
        </p:nvSpPr>
        <p:spPr>
          <a:xfrm>
            <a:off x="7836408" y="3483864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65008" y="3419856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Month 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3419856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DORA baseline published from one Gold source, with its stated limits</a:t>
            </a:r>
          </a:p>
        </p:txBody>
      </p:sp>
      <p:sp>
        <p:nvSpPr>
          <p:cNvPr id="59" name="Oval 58"/>
          <p:cNvSpPr/>
          <p:nvPr/>
        </p:nvSpPr>
        <p:spPr>
          <a:xfrm>
            <a:off x="7836408" y="4087368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65008" y="40233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Month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87968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Day-90 gate review: adoption, coverage, reproducibility, migration, friction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5230368"/>
            <a:ext cx="11057839" cy="969264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2305A"/>
              </a:gs>
              <a:gs pos="55000">
                <a:srgbClr val="2A1A5E"/>
              </a:gs>
              <a:gs pos="100000">
                <a:srgbClr val="123A44"/>
              </a:gs>
            </a:gsLst>
            <a:lin ang="0" scaled="1"/>
          </a:gradFill>
          <a:ln w="9525" cap="rnd">
            <a:solidFill>
              <a:srgbClr val="3A5C8F"/>
            </a:solidFill>
          </a:ln>
          <a:effectLst>
            <a:outerShdw blurRad="3810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2960" y="534009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2FD3A6"/>
                </a:solidFill>
                <a:latin typeface="Segoe UI Semibold"/>
              </a:rPr>
              <a:t>THE ASK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522976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F3F7FD"/>
                </a:solidFill>
                <a:latin typeface="Segoe UI Semibold"/>
              </a:rPr>
              <a:t>Approve D1, D2, D3 and D6 this month. Everything else in this brief follows from those four decisions.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92640" y="557784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9D0"/>
                </a:solidFill>
                <a:latin typeface="Segoe UI"/>
              </a:rPr>
              <a:t>Head of DevOps</a:t>
            </a:r>
          </a:p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9D0"/>
                </a:solidFill>
                <a:latin typeface="Segoe UI"/>
              </a:rPr>
              <a:t>&amp; Analytics</a:t>
            </a:r>
          </a:p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9D0"/>
                </a:solidFill>
                <a:latin typeface="Segoe UI"/>
              </a:rPr>
              <a:t>25 October 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66928" y="64922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Cyncly  ·  Head of DevOps &amp; Analytics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6928"/>
            <a:ext cx="1524000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" y="96926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9B9D0"/>
                </a:solidFill>
                <a:latin typeface="Segoe UI"/>
              </a:rPr>
              <a:t>Make it amazing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33856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1056" y="1755648"/>
            <a:ext cx="658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45CFF5"/>
                </a:solidFill>
                <a:latin typeface="Segoe UI Semibold"/>
              </a:rPr>
              <a:t>CLOSING  · 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486400" cy="596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dirty="0">
                <a:solidFill>
                  <a:srgbClr val="F3F7FD"/>
                </a:solidFill>
                <a:latin typeface="Segoe UI Semibold"/>
              </a:rPr>
              <a:t>Q &amp;</a:t>
            </a:r>
            <a:r>
              <a:rPr lang="en-IN" sz="4000" b="1" i="0" dirty="0">
                <a:solidFill>
                  <a:srgbClr val="F3F7FD"/>
                </a:solidFill>
                <a:latin typeface="Segoe UI Semibold"/>
              </a:rPr>
              <a:t> A</a:t>
            </a:r>
            <a:endParaRPr sz="4000" b="1" i="0" dirty="0">
              <a:solidFill>
                <a:srgbClr val="F3F7FD"/>
              </a:solidFill>
              <a:latin typeface="Segoe UI Semibold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4672" y="4681728"/>
            <a:ext cx="5074920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42062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000" b="1" dirty="0">
                <a:solidFill>
                  <a:srgbClr val="F3F7FD"/>
                </a:solidFill>
                <a:latin typeface="Segoe UI Semibold"/>
              </a:rPr>
              <a:t>Denish Kothadiya</a:t>
            </a:r>
            <a:endParaRPr sz="1000" b="1" i="0" dirty="0">
              <a:solidFill>
                <a:srgbClr val="F3F7FD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" y="5870448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DECISIONS ON THE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7CB6FF">
              <a:alpha val="11000"/>
            </a:srgbClr>
          </a:solidFill>
          <a:ln w="9525" cap="rnd">
            <a:solidFill>
              <a:srgbClr val="7CB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CB6FF"/>
                </a:solidFill>
                <a:latin typeface="Segoe UI Semibold"/>
              </a:rPr>
              <a:t>D1  ·  Golden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45CFF5">
              <a:alpha val="11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21408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45CFF5"/>
                </a:solidFill>
                <a:latin typeface="Segoe UI Semibold"/>
              </a:rPr>
              <a:t>D2  ·  One definition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9A5BFF">
              <a:alpha val="11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38144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9A5BFF"/>
                </a:solidFill>
                <a:latin typeface="Segoe UI Semibold"/>
              </a:rPr>
              <a:t>D3  ·  Controls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2FD3A6">
              <a:alpha val="11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0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D6  ·  Stop-list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92531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1">
                <a:solidFill>
                  <a:srgbClr val="7386A0"/>
                </a:solidFill>
                <a:latin typeface="Segoe UI"/>
              </a:rPr>
              <a:t>The answer to each is a decision, not a workstream.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13 / 13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3272</Words>
  <Application>Microsoft Office PowerPoint</Application>
  <PresentationFormat>Widescreen</PresentationFormat>
  <Paragraphs>498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Cyncly Engineering Transformation — CTO Briefing</dc:title>
  <dc:subject>Consolidating five Azure DevOps organizations onto GitHub Enterprise</dc:subject>
  <dc:creator>Head of DevOps &amp; Analytics</dc:creator>
  <cp:keywords>Cyncly, DevOps, GitHub Enterprise, DORA, Power BI, strategy</cp:keywords>
  <dc:description>Internal — for decision.</dc:description>
  <cp:lastModifiedBy>Denishkumar Kothadiya</cp:lastModifiedBy>
  <cp:revision>4</cp:revision>
  <dcterms:created xsi:type="dcterms:W3CDTF">2013-01-27T09:14:16Z</dcterms:created>
  <dcterms:modified xsi:type="dcterms:W3CDTF">2026-10-25T10:25:58Z</dcterms:modified>
  <cp:category/>
</cp:coreProperties>
</file>